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j4mgb1br6ciNR7oJFRTLroGJm1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OOF ROC-AUC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B27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 (원본)</c:v>
                  </c:pt>
                  <c:pt idx="1">
                    <c:v>B (+수치파생)</c:v>
                  </c:pt>
                  <c:pt idx="2">
                    <c:v>C (+상호작용)</c:v>
                  </c:pt>
                  <c:pt idx="3">
                    <c:v>D (+전체파생)</c:v>
                  </c:pt>
                  <c:pt idx="4">
                    <c:v>E (+v2파생)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0.739464</c:v>
                </c:pt>
                <c:pt idx="1">
                  <c:v>0.739677</c:v>
                </c:pt>
                <c:pt idx="2">
                  <c:v>0.739394</c:v>
                </c:pt>
                <c:pt idx="3">
                  <c:v>0.739782</c:v>
                </c:pt>
                <c:pt idx="4">
                  <c:v>0.739944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1050" u="none">
                  <a:solidFill>
                    <a:srgbClr val="1B27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27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42"/>
          <c:min val="0.735"/>
        </c:scaling>
        <c:delete val="0"/>
        <c:axPos val="l"/>
        <c:majorGridlines>
          <c:spPr>
            <a:ln w="12700" cap="flat">
              <a:solidFill>
                <a:srgbClr val="DC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C8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OOF ROC-AUC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B27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단일 최고 모델
(CatBoost, 7-Fold 평균)</c:v>
                  </c:pt>
                  <c:pt idx="1">
                    <c:v>동일가중
순위 앙상블</c:v>
                  </c:pt>
                  <c:pt idx="2">
                    <c:v>최적 확률 가중
(0.30/0.10/0.60)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0.740594</c:v>
                </c:pt>
                <c:pt idx="1">
                  <c:v>0.740677</c:v>
                </c:pt>
                <c:pt idx="2">
                  <c:v>0.740783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1050" u="none">
                  <a:solidFill>
                    <a:srgbClr val="1B27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27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412"/>
          <c:min val="0.7395"/>
        </c:scaling>
        <c:delete val="0"/>
        <c:axPos val="l"/>
        <c:majorGridlines>
          <c:spPr>
            <a:ln w="12700" cap="flat">
              <a:solidFill>
                <a:srgbClr val="DC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C8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" name="Google Shape;5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" name="Google Shape;6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" name="Google Shape;8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" name="Google Shape;18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8" name="Google Shape;20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0" name="Google Shape;22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1" name="Google Shape;25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6" name="Google Shape;27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8" name="Google Shape;28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2" name="Google Shape;30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0" name="Google Shape;330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1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2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065A82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10607040" y="3840480"/>
            <a:ext cx="3108960" cy="3108960"/>
          </a:xfrm>
          <a:prstGeom prst="ellipse">
            <a:avLst/>
          </a:prstGeom>
          <a:solidFill>
            <a:srgbClr val="1C7293">
              <a:alpha val="5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-1280160" y="4572000"/>
            <a:ext cx="3291840" cy="3291840"/>
          </a:xfrm>
          <a:prstGeom prst="ellipse">
            <a:avLst/>
          </a:prstGeom>
          <a:solidFill>
            <a:srgbClr val="065A82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822960" y="178308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BFA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FBFA6"/>
                </a:solidFill>
                <a:latin typeface="Calibri"/>
                <a:ea typeface="Calibri"/>
                <a:cs typeface="Calibri"/>
                <a:sym typeface="Calibri"/>
              </a:rPr>
              <a:t>HACKATHON PROJECT REPORT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 txBox="1"/>
          <p:nvPr/>
        </p:nvSpPr>
        <p:spPr>
          <a:xfrm>
            <a:off x="777240" y="2194560"/>
            <a:ext cx="103327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mbria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난임 임신 성공 확률 예측 모델 개발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 txBox="1"/>
          <p:nvPr/>
        </p:nvSpPr>
        <p:spPr>
          <a:xfrm>
            <a:off x="822960" y="3383280"/>
            <a:ext cx="9326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DCE8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C9DCE8"/>
                </a:solidFill>
                <a:latin typeface="Calibri"/>
                <a:ea typeface="Calibri"/>
                <a:cs typeface="Calibri"/>
                <a:sym typeface="Calibri"/>
              </a:rPr>
              <a:t>데이터 탐색부터 리키지 방지 앙상블 모델링까지 — 예측 파이프라인 전 과정 보고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 txBox="1"/>
          <p:nvPr/>
        </p:nvSpPr>
        <p:spPr>
          <a:xfrm>
            <a:off x="822960" y="4343400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엄태은 이채민 안주형 서민서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 txBox="1"/>
          <p:nvPr/>
        </p:nvSpPr>
        <p:spPr>
          <a:xfrm>
            <a:off x="822960" y="47548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4C4"/>
              </a:buClr>
              <a:buSzPts val="1250"/>
              <a:buFont typeface="Calibri"/>
              <a:buNone/>
            </a:pPr>
            <a:r>
              <a:rPr b="1" i="0" lang="en-US" sz="1800" u="none" cap="none" strike="noStrike">
                <a:solidFill>
                  <a:srgbClr val="9FB4C4"/>
                </a:solidFill>
                <a:latin typeface="Calibri"/>
                <a:ea typeface="Calibri"/>
                <a:cs typeface="Calibri"/>
                <a:sym typeface="Calibri"/>
              </a:rPr>
              <a:t>두줄코딩 조 (2조)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4C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FB4C4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/>
        </p:nvSpPr>
        <p:spPr>
          <a:xfrm>
            <a:off x="9692640" y="4206240"/>
            <a:ext cx="3291840" cy="3291840"/>
          </a:xfrm>
          <a:prstGeom prst="ellipse">
            <a:avLst/>
          </a:prstGeom>
          <a:solidFill>
            <a:srgbClr val="065A82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2"/>
          <p:cNvSpPr txBox="1"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BFA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FBFA6"/>
                </a:solidFill>
                <a:latin typeface="Calibri"/>
                <a:ea typeface="Calibri"/>
                <a:cs typeface="Calibri"/>
                <a:sym typeface="Calibri"/>
              </a:rPr>
              <a:t>CONTENTS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 txBox="1"/>
          <p:nvPr/>
        </p:nvSpPr>
        <p:spPr>
          <a:xfrm>
            <a:off x="640080" y="80467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목차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 txBox="1"/>
          <p:nvPr/>
        </p:nvSpPr>
        <p:spPr>
          <a:xfrm>
            <a:off x="822960" y="1965960"/>
            <a:ext cx="1188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BFA6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5FBFA6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 txBox="1"/>
          <p:nvPr/>
        </p:nvSpPr>
        <p:spPr>
          <a:xfrm>
            <a:off x="2148840" y="198424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데이터 이해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 txBox="1"/>
          <p:nvPr/>
        </p:nvSpPr>
        <p:spPr>
          <a:xfrm>
            <a:off x="2148840" y="2423160"/>
            <a:ext cx="8138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4C4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4C4"/>
                </a:solidFill>
                <a:latin typeface="Calibri"/>
                <a:ea typeface="Calibri"/>
                <a:cs typeface="Calibri"/>
                <a:sym typeface="Calibri"/>
              </a:rPr>
              <a:t>데이터 개요 · 최소 안전 전처리 원칙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" name="Google Shape;36;p2"/>
          <p:cNvCxnSpPr/>
          <p:nvPr/>
        </p:nvCxnSpPr>
        <p:spPr>
          <a:xfrm>
            <a:off x="822960" y="3017520"/>
            <a:ext cx="10515600" cy="0"/>
          </a:xfrm>
          <a:prstGeom prst="straightConnector1">
            <a:avLst/>
          </a:prstGeom>
          <a:noFill/>
          <a:ln cap="flat" cmpd="sng" w="12700">
            <a:solidFill>
              <a:srgbClr val="32407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" name="Google Shape;37;p2"/>
          <p:cNvSpPr txBox="1"/>
          <p:nvPr/>
        </p:nvSpPr>
        <p:spPr>
          <a:xfrm>
            <a:off x="822960" y="3154680"/>
            <a:ext cx="1188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BFA6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5FBFA6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 txBox="1"/>
          <p:nvPr/>
        </p:nvSpPr>
        <p:spPr>
          <a:xfrm>
            <a:off x="2148840" y="317296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피처 엔지니어링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 txBox="1"/>
          <p:nvPr/>
        </p:nvSpPr>
        <p:spPr>
          <a:xfrm>
            <a:off x="2148840" y="3611880"/>
            <a:ext cx="8138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4C4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4C4"/>
                </a:solidFill>
                <a:latin typeface="Calibri"/>
                <a:ea typeface="Calibri"/>
                <a:cs typeface="Calibri"/>
                <a:sym typeface="Calibri"/>
              </a:rPr>
              <a:t>파생변수 생성 · 피처 세트 비교 · 리키지 방지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" name="Google Shape;40;p2"/>
          <p:cNvCxnSpPr/>
          <p:nvPr/>
        </p:nvCxnSpPr>
        <p:spPr>
          <a:xfrm>
            <a:off x="822960" y="4206240"/>
            <a:ext cx="10515600" cy="0"/>
          </a:xfrm>
          <a:prstGeom prst="straightConnector1">
            <a:avLst/>
          </a:prstGeom>
          <a:noFill/>
          <a:ln cap="flat" cmpd="sng" w="12700">
            <a:solidFill>
              <a:srgbClr val="32407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2"/>
          <p:cNvSpPr txBox="1"/>
          <p:nvPr/>
        </p:nvSpPr>
        <p:spPr>
          <a:xfrm>
            <a:off x="822960" y="4343400"/>
            <a:ext cx="1188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BFA6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5FBFA6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 txBox="1"/>
          <p:nvPr/>
        </p:nvSpPr>
        <p:spPr>
          <a:xfrm>
            <a:off x="2148840" y="436168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모델링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 txBox="1"/>
          <p:nvPr/>
        </p:nvSpPr>
        <p:spPr>
          <a:xfrm>
            <a:off x="2148840" y="4800600"/>
            <a:ext cx="8138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4C4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4C4"/>
                </a:solidFill>
                <a:latin typeface="Calibri"/>
                <a:ea typeface="Calibri"/>
                <a:cs typeface="Calibri"/>
                <a:sym typeface="Calibri"/>
              </a:rPr>
              <a:t>3-모델 학습 · Optuna 튜닝 · 최종 검증 설계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" name="Google Shape;44;p2"/>
          <p:cNvCxnSpPr/>
          <p:nvPr/>
        </p:nvCxnSpPr>
        <p:spPr>
          <a:xfrm>
            <a:off x="822960" y="5394960"/>
            <a:ext cx="10515600" cy="0"/>
          </a:xfrm>
          <a:prstGeom prst="straightConnector1">
            <a:avLst/>
          </a:prstGeom>
          <a:noFill/>
          <a:ln cap="flat" cmpd="sng" w="12700">
            <a:solidFill>
              <a:srgbClr val="32407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2"/>
          <p:cNvSpPr txBox="1"/>
          <p:nvPr/>
        </p:nvSpPr>
        <p:spPr>
          <a:xfrm>
            <a:off x="822960" y="5532120"/>
            <a:ext cx="1188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BFA6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5FBFA6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 txBox="1"/>
          <p:nvPr/>
        </p:nvSpPr>
        <p:spPr>
          <a:xfrm>
            <a:off x="2148840" y="555040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평가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 txBox="1"/>
          <p:nvPr/>
        </p:nvSpPr>
        <p:spPr>
          <a:xfrm>
            <a:off x="2148840" y="5989320"/>
            <a:ext cx="8138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4C4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4C4"/>
                </a:solidFill>
                <a:latin typeface="Calibri"/>
                <a:ea typeface="Calibri"/>
                <a:cs typeface="Calibri"/>
                <a:sym typeface="Calibri"/>
              </a:rPr>
              <a:t>앙상블 전략 · 최종 성능 · SHAP 해석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4C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FB4C4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"/>
          <p:cNvSpPr/>
          <p:nvPr/>
        </p:nvSpPr>
        <p:spPr>
          <a:xfrm>
            <a:off x="9418320" y="-1554480"/>
            <a:ext cx="4846320" cy="4846320"/>
          </a:xfrm>
          <a:prstGeom prst="ellipse">
            <a:avLst/>
          </a:prstGeom>
          <a:solidFill>
            <a:srgbClr val="065A82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-1463040" y="4297680"/>
            <a:ext cx="3657600" cy="3657600"/>
          </a:xfrm>
          <a:prstGeom prst="ellipse">
            <a:avLst/>
          </a:prstGeom>
          <a:solidFill>
            <a:srgbClr val="1C7293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3"/>
          <p:cNvSpPr txBox="1"/>
          <p:nvPr/>
        </p:nvSpPr>
        <p:spPr>
          <a:xfrm>
            <a:off x="822960" y="23317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BFA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FBFA6"/>
                </a:solidFill>
                <a:latin typeface="Calibri"/>
                <a:ea typeface="Calibri"/>
                <a:cs typeface="Calibri"/>
                <a:sym typeface="Calibri"/>
              </a:rPr>
              <a:t>SECTION 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 txBox="1"/>
          <p:nvPr/>
        </p:nvSpPr>
        <p:spPr>
          <a:xfrm>
            <a:off x="777240" y="2606040"/>
            <a:ext cx="29260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68"/>
              </a:buClr>
              <a:buSzPts val="11000"/>
              <a:buFont typeface="Cambria"/>
              <a:buNone/>
            </a:pPr>
            <a:r>
              <a:rPr b="1" i="0" lang="en-US" sz="11000" u="none" cap="none" strike="noStrike">
                <a:solidFill>
                  <a:srgbClr val="2B3568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1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 txBox="1"/>
          <p:nvPr/>
        </p:nvSpPr>
        <p:spPr>
          <a:xfrm>
            <a:off x="822960" y="3246120"/>
            <a:ext cx="9601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데이터 이해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 txBox="1"/>
          <p:nvPr/>
        </p:nvSpPr>
        <p:spPr>
          <a:xfrm>
            <a:off x="822960" y="406908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DCE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9DCE8"/>
                </a:solidFill>
                <a:latin typeface="Calibri"/>
                <a:ea typeface="Calibri"/>
                <a:cs typeface="Calibri"/>
                <a:sym typeface="Calibri"/>
              </a:rPr>
              <a:t>데이터 개요와 최소 개입 전처리 원칙을 살펴봅니다.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4C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FB4C4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"/>
          <p:cNvSpPr txBox="1"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01. 데이터 이해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 txBox="1"/>
          <p:nvPr/>
        </p:nvSpPr>
        <p:spPr>
          <a:xfrm>
            <a:off x="640080" y="80467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733"/>
                </a:solidFill>
                <a:latin typeface="Cambria"/>
                <a:ea typeface="Cambria"/>
                <a:cs typeface="Cambria"/>
                <a:sym typeface="Cambria"/>
              </a:rPr>
              <a:t>데이터 개요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 txBox="1"/>
          <p:nvPr/>
        </p:nvSpPr>
        <p:spPr>
          <a:xfrm>
            <a:off x="640080" y="146304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9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6B7C89"/>
                </a:solidFill>
                <a:latin typeface="Calibri"/>
                <a:ea typeface="Calibri"/>
                <a:cs typeface="Calibri"/>
                <a:sym typeface="Calibri"/>
              </a:rPr>
              <a:t>난임 시술 이력 데이터를 기반으로, 개별 환자의 임신 성공 여부(이진 타겟)를 예측합니다.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640080" y="2148840"/>
            <a:ext cx="3429000" cy="1874520"/>
          </a:xfrm>
          <a:prstGeom prst="roundRect">
            <a:avLst>
              <a:gd fmla="val 5854" name="adj"/>
            </a:avLst>
          </a:prstGeom>
          <a:solidFill>
            <a:srgbClr val="F4F8FA"/>
          </a:solidFill>
          <a:ln cap="flat" cmpd="sng" w="12700">
            <a:solidFill>
              <a:srgbClr val="DC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4"/>
          <p:cNvSpPr txBox="1"/>
          <p:nvPr/>
        </p:nvSpPr>
        <p:spPr>
          <a:xfrm>
            <a:off x="896112" y="2395728"/>
            <a:ext cx="291693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B2733"/>
                </a:solidFill>
                <a:latin typeface="Cambria"/>
                <a:ea typeface="Cambria"/>
                <a:cs typeface="Cambria"/>
                <a:sym typeface="Cambria"/>
              </a:rPr>
              <a:t>256,351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 txBox="1"/>
          <p:nvPr/>
        </p:nvSpPr>
        <p:spPr>
          <a:xfrm>
            <a:off x="896112" y="3200400"/>
            <a:ext cx="2916936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C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C89"/>
                </a:solidFill>
                <a:latin typeface="Calibri"/>
                <a:ea typeface="Calibri"/>
                <a:cs typeface="Calibri"/>
                <a:sym typeface="Calibri"/>
              </a:rPr>
              <a:t>train 샘플 수 (69개 컬럼)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4343400" y="2148840"/>
            <a:ext cx="3429000" cy="1874520"/>
          </a:xfrm>
          <a:prstGeom prst="roundRect">
            <a:avLst>
              <a:gd fmla="val 5854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4"/>
          <p:cNvSpPr txBox="1"/>
          <p:nvPr/>
        </p:nvSpPr>
        <p:spPr>
          <a:xfrm>
            <a:off x="4599432" y="2395728"/>
            <a:ext cx="291693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BFA6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5FBFA6"/>
                </a:solidFill>
                <a:latin typeface="Cambria"/>
                <a:ea typeface="Cambria"/>
                <a:cs typeface="Cambria"/>
                <a:sym typeface="Cambria"/>
              </a:rPr>
              <a:t>90,067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 txBox="1"/>
          <p:nvPr/>
        </p:nvSpPr>
        <p:spPr>
          <a:xfrm>
            <a:off x="4599432" y="3200400"/>
            <a:ext cx="2916936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9DCE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CE8"/>
                </a:solidFill>
                <a:latin typeface="Calibri"/>
                <a:ea typeface="Calibri"/>
                <a:cs typeface="Calibri"/>
                <a:sym typeface="Calibri"/>
              </a:rPr>
              <a:t>test 샘플 수 (68개 컬럼)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8046720" y="2148840"/>
            <a:ext cx="3429000" cy="1874520"/>
          </a:xfrm>
          <a:prstGeom prst="roundRect">
            <a:avLst>
              <a:gd fmla="val 5854" name="adj"/>
            </a:avLst>
          </a:prstGeom>
          <a:solidFill>
            <a:srgbClr val="F4F8FA"/>
          </a:solidFill>
          <a:ln cap="flat" cmpd="sng" w="12700">
            <a:solidFill>
              <a:srgbClr val="DC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4"/>
          <p:cNvSpPr txBox="1"/>
          <p:nvPr/>
        </p:nvSpPr>
        <p:spPr>
          <a:xfrm>
            <a:off x="8302752" y="2395728"/>
            <a:ext cx="291693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B2733"/>
                </a:solidFill>
                <a:latin typeface="Cambria"/>
                <a:ea typeface="Cambria"/>
                <a:cs typeface="Cambria"/>
                <a:sym typeface="Cambria"/>
              </a:rPr>
              <a:t>66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 txBox="1"/>
          <p:nvPr/>
        </p:nvSpPr>
        <p:spPr>
          <a:xfrm>
            <a:off x="8302752" y="3200400"/>
            <a:ext cx="2916936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C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C89"/>
                </a:solidFill>
                <a:latin typeface="Calibri"/>
                <a:ea typeface="Calibri"/>
                <a:cs typeface="Calibri"/>
                <a:sym typeface="Calibri"/>
              </a:rPr>
              <a:t>상수 컬럼 제거 후 </a:t>
            </a:r>
            <a:r>
              <a:rPr lang="en-US" sz="1200">
                <a:solidFill>
                  <a:srgbClr val="6B7C89"/>
                </a:solidFill>
                <a:latin typeface="Calibri"/>
                <a:ea typeface="Calibri"/>
                <a:cs typeface="Calibri"/>
                <a:sym typeface="Calibri"/>
              </a:rPr>
              <a:t>원본</a:t>
            </a:r>
            <a:r>
              <a:rPr b="0" i="0" lang="en-US" sz="1200" u="none" cap="none" strike="noStrike">
                <a:solidFill>
                  <a:srgbClr val="6B7C89"/>
                </a:solidFill>
                <a:latin typeface="Calibri"/>
                <a:ea typeface="Calibri"/>
                <a:cs typeface="Calibri"/>
                <a:sym typeface="Calibri"/>
              </a:rPr>
              <a:t> 피처 수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640080" y="4343400"/>
            <a:ext cx="10881360" cy="1600200"/>
          </a:xfrm>
          <a:prstGeom prst="roundRect">
            <a:avLst>
              <a:gd fmla="val 5714" name="adj"/>
            </a:avLst>
          </a:prstGeom>
          <a:solidFill>
            <a:srgbClr val="F4F8FA"/>
          </a:solidFill>
          <a:ln cap="flat" cmpd="sng" w="12700">
            <a:solidFill>
              <a:srgbClr val="DC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4"/>
          <p:cNvSpPr txBox="1"/>
          <p:nvPr/>
        </p:nvSpPr>
        <p:spPr>
          <a:xfrm>
            <a:off x="914400" y="4553712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타겟 &amp; 평가 방식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 txBox="1"/>
          <p:nvPr/>
        </p:nvSpPr>
        <p:spPr>
          <a:xfrm>
            <a:off x="914400" y="4919472"/>
            <a:ext cx="10332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타겟은 '임신 성공 여부'이며 두 클래스 비율이 균등하지 않은 불균형 이진 분류 문제입니다. 평가지표는 임계값에 의존하지 않는 Stratified K-Fold OOF ROC-AUC를 사용해, 클래스 비율 왜곡의 영향을 줄이고 확률 순위 자체의 품질을 측정합니다.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C89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01. 데이터 이해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640080" y="80467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733"/>
                </a:solidFill>
                <a:latin typeface="Cambria"/>
                <a:ea typeface="Cambria"/>
                <a:cs typeface="Cambria"/>
                <a:sym typeface="Cambria"/>
              </a:rPr>
              <a:t>최소 개입 전처리 원칙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 txBox="1"/>
          <p:nvPr/>
        </p:nvSpPr>
        <p:spPr>
          <a:xfrm>
            <a:off x="640080" y="1463040"/>
            <a:ext cx="10424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9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6B7C89"/>
                </a:solidFill>
                <a:latin typeface="Calibri"/>
                <a:ea typeface="Calibri"/>
                <a:cs typeface="Calibri"/>
                <a:sym typeface="Calibri"/>
              </a:rPr>
              <a:t>과도한 결측치 처리가 오히려 정보를 훼손한다는 판단 아래, 원본의 의미를 최대한 유지하는 방향으로 전처리했습니다.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640080" y="2057400"/>
            <a:ext cx="5166360" cy="1627632"/>
          </a:xfrm>
          <a:prstGeom prst="roundRect">
            <a:avLst>
              <a:gd fmla="val 5618" name="adj"/>
            </a:avLst>
          </a:prstGeom>
          <a:solidFill>
            <a:srgbClr val="F4F8FA"/>
          </a:solidFill>
          <a:ln cap="flat" cmpd="sng" w="12700">
            <a:solidFill>
              <a:srgbClr val="DC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877824" y="2276856"/>
            <a:ext cx="420624" cy="420624"/>
          </a:xfrm>
          <a:prstGeom prst="roundRect">
            <a:avLst>
              <a:gd fmla="val 17391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5"/>
          <p:cNvSpPr txBox="1"/>
          <p:nvPr/>
        </p:nvSpPr>
        <p:spPr>
          <a:xfrm>
            <a:off x="877824" y="227685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 txBox="1"/>
          <p:nvPr/>
        </p:nvSpPr>
        <p:spPr>
          <a:xfrm>
            <a:off x="1481328" y="2249424"/>
            <a:ext cx="40873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ID 컬럼 제외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 txBox="1"/>
          <p:nvPr/>
        </p:nvSpPr>
        <p:spPr>
          <a:xfrm>
            <a:off x="877824" y="2807208"/>
            <a:ext cx="469087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C8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C89"/>
                </a:solidFill>
                <a:latin typeface="Calibri"/>
                <a:ea typeface="Calibri"/>
                <a:cs typeface="Calibri"/>
                <a:sym typeface="Calibri"/>
              </a:rPr>
              <a:t>모델 입력에서 식별자(ID)는 사전 제거하여 정보 누출 여지를 차단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6080760" y="2057400"/>
            <a:ext cx="5166360" cy="1627632"/>
          </a:xfrm>
          <a:prstGeom prst="roundRect">
            <a:avLst>
              <a:gd fmla="val 5618" name="adj"/>
            </a:avLst>
          </a:prstGeom>
          <a:solidFill>
            <a:srgbClr val="F4F8FA"/>
          </a:solidFill>
          <a:ln cap="flat" cmpd="sng" w="12700">
            <a:solidFill>
              <a:srgbClr val="DC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6318504" y="2276856"/>
            <a:ext cx="420624" cy="420624"/>
          </a:xfrm>
          <a:prstGeom prst="roundRect">
            <a:avLst>
              <a:gd fmla="val 17391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5"/>
          <p:cNvSpPr txBox="1"/>
          <p:nvPr/>
        </p:nvSpPr>
        <p:spPr>
          <a:xfrm>
            <a:off x="6318504" y="227685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 txBox="1"/>
          <p:nvPr/>
        </p:nvSpPr>
        <p:spPr>
          <a:xfrm>
            <a:off x="6922008" y="2249424"/>
            <a:ext cx="40873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상수 컬럼 자동 제거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 txBox="1"/>
          <p:nvPr/>
        </p:nvSpPr>
        <p:spPr>
          <a:xfrm>
            <a:off x="6318504" y="2807208"/>
            <a:ext cx="469087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C8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C89"/>
                </a:solidFill>
                <a:latin typeface="Calibri"/>
                <a:ea typeface="Calibri"/>
                <a:cs typeface="Calibri"/>
                <a:sym typeface="Calibri"/>
              </a:rPr>
              <a:t>train/test 공통 값이 하나뿐인 컬럼(예: '불임 원인 - 여성 요인')만 선별 제거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640080" y="3941064"/>
            <a:ext cx="5166360" cy="1627632"/>
          </a:xfrm>
          <a:prstGeom prst="roundRect">
            <a:avLst>
              <a:gd fmla="val 5618" name="adj"/>
            </a:avLst>
          </a:prstGeom>
          <a:solidFill>
            <a:srgbClr val="F4F8FA"/>
          </a:solidFill>
          <a:ln cap="flat" cmpd="sng" w="12700">
            <a:solidFill>
              <a:srgbClr val="DC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877824" y="4160520"/>
            <a:ext cx="420624" cy="420624"/>
          </a:xfrm>
          <a:prstGeom prst="roundRect">
            <a:avLst>
              <a:gd fmla="val 17391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5"/>
          <p:cNvSpPr txBox="1"/>
          <p:nvPr/>
        </p:nvSpPr>
        <p:spPr>
          <a:xfrm>
            <a:off x="877824" y="416052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 txBox="1"/>
          <p:nvPr/>
        </p:nvSpPr>
        <p:spPr>
          <a:xfrm>
            <a:off x="1481328" y="4133088"/>
            <a:ext cx="40873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범주형 결측 = 'Missing'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 txBox="1"/>
          <p:nvPr/>
        </p:nvSpPr>
        <p:spPr>
          <a:xfrm>
            <a:off x="877824" y="4690872"/>
            <a:ext cx="469087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C8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C89"/>
                </a:solidFill>
                <a:latin typeface="Calibri"/>
                <a:ea typeface="Calibri"/>
                <a:cs typeface="Calibri"/>
                <a:sym typeface="Calibri"/>
              </a:rPr>
              <a:t>결측 자체를 하나의 범주로 살려 구조적 결측 패턴 정보 보존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6080760" y="3941064"/>
            <a:ext cx="5166360" cy="1627632"/>
          </a:xfrm>
          <a:prstGeom prst="roundRect">
            <a:avLst>
              <a:gd fmla="val 5618" name="adj"/>
            </a:avLst>
          </a:prstGeom>
          <a:solidFill>
            <a:srgbClr val="F4F8FA"/>
          </a:solidFill>
          <a:ln cap="flat" cmpd="sng" w="12700">
            <a:solidFill>
              <a:srgbClr val="DC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6318504" y="4160520"/>
            <a:ext cx="420624" cy="420624"/>
          </a:xfrm>
          <a:prstGeom prst="roundRect">
            <a:avLst>
              <a:gd fmla="val 17391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"/>
          <p:cNvSpPr txBox="1"/>
          <p:nvPr/>
        </p:nvSpPr>
        <p:spPr>
          <a:xfrm>
            <a:off x="6318504" y="416052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 txBox="1"/>
          <p:nvPr/>
        </p:nvSpPr>
        <p:spPr>
          <a:xfrm>
            <a:off x="6922008" y="4133088"/>
            <a:ext cx="40873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숫자형 결측은 트리 모델이 처리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 txBox="1"/>
          <p:nvPr/>
        </p:nvSpPr>
        <p:spPr>
          <a:xfrm>
            <a:off x="6318504" y="4690872"/>
            <a:ext cx="469087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C8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C89"/>
                </a:solidFill>
                <a:latin typeface="Calibri"/>
                <a:ea typeface="Calibri"/>
                <a:cs typeface="Calibri"/>
                <a:sym typeface="Calibri"/>
              </a:rPr>
              <a:t>임의 평균 대체를 지양, LightGBM/CatBoost/XGBoost의 결측 처리 능력 활용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fmla="val 14545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5"/>
          <p:cNvSpPr txBox="1"/>
          <p:nvPr/>
        </p:nvSpPr>
        <p:spPr>
          <a:xfrm>
            <a:off x="914400" y="5989320"/>
            <a:ext cx="10332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BFA6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5FBFA6"/>
                </a:solidFill>
                <a:latin typeface="Calibri"/>
                <a:ea typeface="Calibri"/>
                <a:cs typeface="Calibri"/>
                <a:sym typeface="Calibri"/>
              </a:rPr>
              <a:t>핵심 원칙 — 해동/유전 관련 컬럼은 결측률이 높아도 임의로 먼저 삭제하지 않는다.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C89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"/>
          <p:cNvSpPr/>
          <p:nvPr/>
        </p:nvSpPr>
        <p:spPr>
          <a:xfrm>
            <a:off x="9418320" y="-1554480"/>
            <a:ext cx="4846320" cy="4846320"/>
          </a:xfrm>
          <a:prstGeom prst="ellipse">
            <a:avLst/>
          </a:prstGeom>
          <a:solidFill>
            <a:srgbClr val="065A82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-1463040" y="4297680"/>
            <a:ext cx="3657600" cy="3657600"/>
          </a:xfrm>
          <a:prstGeom prst="ellipse">
            <a:avLst/>
          </a:prstGeom>
          <a:solidFill>
            <a:srgbClr val="1C7293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6"/>
          <p:cNvSpPr txBox="1"/>
          <p:nvPr/>
        </p:nvSpPr>
        <p:spPr>
          <a:xfrm>
            <a:off x="822960" y="23317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BFA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FBFA6"/>
                </a:solidFill>
                <a:latin typeface="Calibri"/>
                <a:ea typeface="Calibri"/>
                <a:cs typeface="Calibri"/>
                <a:sym typeface="Calibri"/>
              </a:rPr>
              <a:t>SECTION 02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 txBox="1"/>
          <p:nvPr/>
        </p:nvSpPr>
        <p:spPr>
          <a:xfrm>
            <a:off x="777240" y="2606040"/>
            <a:ext cx="29260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68"/>
              </a:buClr>
              <a:buSzPts val="11000"/>
              <a:buFont typeface="Cambria"/>
              <a:buNone/>
            </a:pPr>
            <a:r>
              <a:rPr b="1" i="0" lang="en-US" sz="11000" u="none" cap="none" strike="noStrike">
                <a:solidFill>
                  <a:srgbClr val="2B3568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1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 txBox="1"/>
          <p:nvPr/>
        </p:nvSpPr>
        <p:spPr>
          <a:xfrm>
            <a:off x="822960" y="3246120"/>
            <a:ext cx="9601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피처 엔지니어링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 txBox="1"/>
          <p:nvPr/>
        </p:nvSpPr>
        <p:spPr>
          <a:xfrm>
            <a:off x="822960" y="406908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DCE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9DCE8"/>
                </a:solidFill>
                <a:latin typeface="Calibri"/>
                <a:ea typeface="Calibri"/>
                <a:cs typeface="Calibri"/>
                <a:sym typeface="Calibri"/>
              </a:rPr>
              <a:t>파생변수 생성, 피처 세트 비교, 그리고 데이터 리키지 방지까지 다룹니다.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4C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FB4C4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"/>
          <p:cNvSpPr txBox="1"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02. 피처 엔지니어링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 txBox="1"/>
          <p:nvPr/>
        </p:nvSpPr>
        <p:spPr>
          <a:xfrm>
            <a:off x="640080" y="80467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733"/>
                </a:solidFill>
                <a:latin typeface="Cambria"/>
                <a:ea typeface="Cambria"/>
                <a:cs typeface="Cambria"/>
                <a:sym typeface="Cambria"/>
              </a:rPr>
              <a:t>파생변수 생성과 피처 세트 확장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640080" y="1554480"/>
            <a:ext cx="5212080" cy="4434840"/>
          </a:xfrm>
          <a:prstGeom prst="roundRect">
            <a:avLst>
              <a:gd fmla="val 2474" name="adj"/>
            </a:avLst>
          </a:prstGeom>
          <a:solidFill>
            <a:srgbClr val="F4F8FA"/>
          </a:solidFill>
          <a:ln cap="flat" cmpd="sng" w="12700">
            <a:solidFill>
              <a:srgbClr val="DC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7"/>
          <p:cNvSpPr txBox="1"/>
          <p:nvPr/>
        </p:nvSpPr>
        <p:spPr>
          <a:xfrm>
            <a:off x="914400" y="1783080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기존 피처 세트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914400" y="2286000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7"/>
          <p:cNvSpPr txBox="1"/>
          <p:nvPr/>
        </p:nvSpPr>
        <p:spPr>
          <a:xfrm>
            <a:off x="914400" y="228600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 txBox="1"/>
          <p:nvPr/>
        </p:nvSpPr>
        <p:spPr>
          <a:xfrm>
            <a:off x="1444752" y="2304288"/>
            <a:ext cx="4160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원본 피처만 사용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914400" y="2944368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7"/>
          <p:cNvSpPr txBox="1"/>
          <p:nvPr/>
        </p:nvSpPr>
        <p:spPr>
          <a:xfrm>
            <a:off x="914400" y="294436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 txBox="1"/>
          <p:nvPr/>
        </p:nvSpPr>
        <p:spPr>
          <a:xfrm>
            <a:off x="1444752" y="2962656"/>
            <a:ext cx="4160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원본 + 수치형/비율/상태 파생변수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914400" y="3602736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914400" y="360273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 txBox="1"/>
          <p:nvPr/>
        </p:nvSpPr>
        <p:spPr>
          <a:xfrm>
            <a:off x="1444752" y="3621024"/>
            <a:ext cx="4160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원본 + 상호작용 · 통합 범주 파생변수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914400" y="4261104"/>
            <a:ext cx="384048" cy="384048"/>
          </a:xfrm>
          <a:prstGeom prst="ellipse">
            <a:avLst/>
          </a:prstGeom>
          <a:solidFill>
            <a:srgbClr val="5FB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7"/>
          <p:cNvSpPr txBox="1"/>
          <p:nvPr/>
        </p:nvSpPr>
        <p:spPr>
          <a:xfrm>
            <a:off x="914400" y="426110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 txBox="1"/>
          <p:nvPr/>
        </p:nvSpPr>
        <p:spPr>
          <a:xfrm>
            <a:off x="1444752" y="4279392"/>
            <a:ext cx="4160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원본 + 모든 파생변수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 txBox="1"/>
          <p:nvPr/>
        </p:nvSpPr>
        <p:spPr>
          <a:xfrm>
            <a:off x="914400" y="4965192"/>
            <a:ext cx="4663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C89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6B7C89"/>
                </a:solidFill>
                <a:latin typeface="Calibri"/>
                <a:ea typeface="Calibri"/>
                <a:cs typeface="Calibri"/>
                <a:sym typeface="Calibri"/>
              </a:rPr>
              <a:t>시술 기술 특수 구분자 문자열을 분해해 신규 피처를 추가 생성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6080760" y="1554480"/>
            <a:ext cx="5440680" cy="4434840"/>
          </a:xfrm>
          <a:prstGeom prst="roundRect">
            <a:avLst>
              <a:gd fmla="val 2474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s/layers.png" id="148" name="Google Shape;14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5080" y="17830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7"/>
          <p:cNvSpPr txBox="1"/>
          <p:nvPr/>
        </p:nvSpPr>
        <p:spPr>
          <a:xfrm>
            <a:off x="6858000" y="178308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BFA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FBFA6"/>
                </a:solidFill>
                <a:latin typeface="Calibri"/>
                <a:ea typeface="Calibri"/>
                <a:cs typeface="Calibri"/>
                <a:sym typeface="Calibri"/>
              </a:rPr>
              <a:t>신규 추가 </a:t>
            </a:r>
            <a:r>
              <a:rPr b="1" lang="en-US">
                <a:solidFill>
                  <a:srgbClr val="5FBFA6"/>
                </a:solidFill>
                <a:latin typeface="Calibri"/>
                <a:ea typeface="Calibri"/>
                <a:cs typeface="Calibri"/>
                <a:sym typeface="Calibri"/>
              </a:rPr>
              <a:t>E </a:t>
            </a:r>
            <a:r>
              <a:rPr b="1" i="0" lang="en-US" sz="1400" u="none" cap="none" strike="noStrike">
                <a:solidFill>
                  <a:srgbClr val="5FBFA6"/>
                </a:solidFill>
                <a:latin typeface="Calibri"/>
                <a:ea typeface="Calibri"/>
                <a:cs typeface="Calibri"/>
                <a:sym typeface="Calibri"/>
              </a:rPr>
              <a:t>피처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6355080" y="2478024"/>
            <a:ext cx="91440" cy="91440"/>
          </a:xfrm>
          <a:prstGeom prst="ellipse">
            <a:avLst/>
          </a:prstGeom>
          <a:solidFill>
            <a:srgbClr val="5FB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7"/>
          <p:cNvSpPr txBox="1"/>
          <p:nvPr/>
        </p:nvSpPr>
        <p:spPr>
          <a:xfrm>
            <a:off x="6583680" y="2313432"/>
            <a:ext cx="4709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Funnel(단계별 진행) 파생 피처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6355080" y="3255264"/>
            <a:ext cx="91440" cy="91440"/>
          </a:xfrm>
          <a:prstGeom prst="ellipse">
            <a:avLst/>
          </a:prstGeom>
          <a:solidFill>
            <a:srgbClr val="5FB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7"/>
          <p:cNvSpPr txBox="1"/>
          <p:nvPr/>
        </p:nvSpPr>
        <p:spPr>
          <a:xfrm>
            <a:off x="6583680" y="3090672"/>
            <a:ext cx="4709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과거 시술 실패 횟수 피처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6355080" y="4032504"/>
            <a:ext cx="91440" cy="91440"/>
          </a:xfrm>
          <a:prstGeom prst="ellipse">
            <a:avLst/>
          </a:prstGeom>
          <a:solidFill>
            <a:srgbClr val="5FB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7"/>
          <p:cNvSpPr txBox="1"/>
          <p:nvPr/>
        </p:nvSpPr>
        <p:spPr>
          <a:xfrm>
            <a:off x="6583680" y="3867912"/>
            <a:ext cx="4709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나이 × 동결 × 이식일 등 상호작용 피처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6" name="Google Shape;156;p7"/>
          <p:cNvCxnSpPr/>
          <p:nvPr/>
        </p:nvCxnSpPr>
        <p:spPr>
          <a:xfrm>
            <a:off x="6355080" y="5577840"/>
            <a:ext cx="4892040" cy="0"/>
          </a:xfrm>
          <a:prstGeom prst="straightConnector1">
            <a:avLst/>
          </a:prstGeom>
          <a:noFill/>
          <a:ln cap="flat" cmpd="sng" w="12700">
            <a:solidFill>
              <a:srgbClr val="3A4A7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7" name="Google Shape;157;p7"/>
          <p:cNvSpPr txBox="1"/>
          <p:nvPr/>
        </p:nvSpPr>
        <p:spPr>
          <a:xfrm>
            <a:off x="6355080" y="4732020"/>
            <a:ext cx="4892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DCE8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C9DCE8"/>
                </a:solidFill>
                <a:latin typeface="Calibri"/>
                <a:ea typeface="Calibri"/>
                <a:cs typeface="Calibri"/>
                <a:sym typeface="Calibri"/>
              </a:rPr>
              <a:t>목적: 임신 성공 여부와 관련된 임상적 맥락(진행 단계·이력·상호작용)을 모델이 직접 학습하도록 신호를 명시화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C89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"/>
          <p:cNvSpPr txBox="1"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02. 피처 엔지니어링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 txBox="1"/>
          <p:nvPr/>
        </p:nvSpPr>
        <p:spPr>
          <a:xfrm>
            <a:off x="640080" y="80467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733"/>
                </a:solidFill>
                <a:latin typeface="Cambria"/>
                <a:ea typeface="Cambria"/>
                <a:cs typeface="Cambria"/>
                <a:sym typeface="Cambria"/>
              </a:rPr>
              <a:t>피처 세트별 OOF AUC 비교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 txBox="1"/>
          <p:nvPr/>
        </p:nvSpPr>
        <p:spPr>
          <a:xfrm>
            <a:off x="640080" y="141732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9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6B7C89"/>
                </a:solidFill>
                <a:latin typeface="Calibri"/>
                <a:ea typeface="Calibri"/>
                <a:cs typeface="Calibri"/>
                <a:sym typeface="Calibri"/>
              </a:rPr>
              <a:t>5-Fold OOF ROC-AUC 기준, 새로 생성한 파생변수를 포함한 </a:t>
            </a:r>
            <a:r>
              <a:rPr b="1" i="0" lang="en-US" sz="1350" u="none" cap="none" strike="noStrike">
                <a:solidFill>
                  <a:srgbClr val="6B7C89"/>
                </a:solidFill>
                <a:latin typeface="Calibri"/>
                <a:ea typeface="Calibri"/>
                <a:cs typeface="Calibri"/>
                <a:sym typeface="Calibri"/>
              </a:rPr>
              <a:t>E </a:t>
            </a:r>
            <a:r>
              <a:rPr b="1" lang="en-US" sz="1350">
                <a:solidFill>
                  <a:srgbClr val="6B7C89"/>
                </a:solidFill>
                <a:latin typeface="Calibri"/>
                <a:ea typeface="Calibri"/>
                <a:cs typeface="Calibri"/>
                <a:sym typeface="Calibri"/>
              </a:rPr>
              <a:t>피처</a:t>
            </a:r>
            <a:r>
              <a:rPr b="1" i="0" lang="en-US" sz="1350" u="none" cap="none" strike="noStrike">
                <a:solidFill>
                  <a:srgbClr val="6B7C89"/>
                </a:solidFill>
                <a:latin typeface="Calibri"/>
                <a:ea typeface="Calibri"/>
                <a:cs typeface="Calibri"/>
                <a:sym typeface="Calibri"/>
              </a:rPr>
              <a:t> (133개 피처)</a:t>
            </a:r>
            <a:r>
              <a:rPr b="0" i="0" lang="en-US" sz="1350" u="none" cap="none" strike="noStrike">
                <a:solidFill>
                  <a:srgbClr val="6B7C89"/>
                </a:solidFill>
                <a:latin typeface="Calibri"/>
                <a:ea typeface="Calibri"/>
                <a:cs typeface="Calibri"/>
                <a:sym typeface="Calibri"/>
              </a:rPr>
              <a:t>가 최종 선택되었습니다.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7" name="Google Shape;167;p8"/>
          <p:cNvGraphicFramePr/>
          <p:nvPr/>
        </p:nvGraphicFramePr>
        <p:xfrm>
          <a:off x="640080" y="2057400"/>
          <a:ext cx="6675120" cy="416052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68" name="Google Shape;168;p8"/>
          <p:cNvSpPr/>
          <p:nvPr/>
        </p:nvSpPr>
        <p:spPr>
          <a:xfrm>
            <a:off x="7589520" y="2057400"/>
            <a:ext cx="3977640" cy="4160520"/>
          </a:xfrm>
          <a:prstGeom prst="roundRect">
            <a:avLst>
              <a:gd fmla="val 2759" name="adj"/>
            </a:avLst>
          </a:prstGeom>
          <a:solidFill>
            <a:srgbClr val="F4F8FA"/>
          </a:solidFill>
          <a:ln cap="flat" cmpd="sng" w="12700">
            <a:solidFill>
              <a:srgbClr val="DC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8"/>
          <p:cNvSpPr txBox="1"/>
          <p:nvPr/>
        </p:nvSpPr>
        <p:spPr>
          <a:xfrm>
            <a:off x="7863840" y="228600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읽는 방법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7863840" y="2834640"/>
            <a:ext cx="82296" cy="82296"/>
          </a:xfrm>
          <a:prstGeom prst="ellipse">
            <a:avLst/>
          </a:prstGeom>
          <a:solidFill>
            <a:srgbClr val="5FB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8"/>
          <p:cNvSpPr txBox="1"/>
          <p:nvPr/>
        </p:nvSpPr>
        <p:spPr>
          <a:xfrm>
            <a:off x="8065008" y="2679192"/>
            <a:ext cx="3337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다섯 세트 간 차이는 크지 않지만(0.7394~0.7398), 파생변수를 더할수록 소폭 개선되는 경향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7863840" y="3886200"/>
            <a:ext cx="82296" cy="82296"/>
          </a:xfrm>
          <a:prstGeom prst="ellipse">
            <a:avLst/>
          </a:prstGeom>
          <a:solidFill>
            <a:srgbClr val="5FB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8"/>
          <p:cNvSpPr txBox="1"/>
          <p:nvPr/>
        </p:nvSpPr>
        <p:spPr>
          <a:xfrm>
            <a:off x="8065008" y="3730752"/>
            <a:ext cx="3337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E세트가 최고 OOF AUC를 기록해 최종 모델 입력 으로 자동 선택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7863840" y="4937760"/>
            <a:ext cx="82296" cy="82296"/>
          </a:xfrm>
          <a:prstGeom prst="ellipse">
            <a:avLst/>
          </a:prstGeom>
          <a:solidFill>
            <a:srgbClr val="5FB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8"/>
          <p:cNvSpPr txBox="1"/>
          <p:nvPr/>
        </p:nvSpPr>
        <p:spPr>
          <a:xfrm>
            <a:off x="8065008" y="4782312"/>
            <a:ext cx="3337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이 CV는 개발용 모델 선택 점수 — 완전히 독립적인 최종 성능 추정치는 아님을 명시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C89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"/>
          <p:cNvSpPr txBox="1"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BFA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FBFA6"/>
                </a:solidFill>
                <a:latin typeface="Calibri"/>
                <a:ea typeface="Calibri"/>
                <a:cs typeface="Calibri"/>
                <a:sym typeface="Calibri"/>
              </a:rPr>
              <a:t>02. 피처 엔지니어링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 txBox="1"/>
          <p:nvPr/>
        </p:nvSpPr>
        <p:spPr>
          <a:xfrm>
            <a:off x="640080" y="80467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데이터 누수(Leakage) 방지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 txBox="1"/>
          <p:nvPr/>
        </p:nvSpPr>
        <p:spPr>
          <a:xfrm>
            <a:off x="640080" y="141732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DCE8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C9DCE8"/>
                </a:solidFill>
                <a:latin typeface="Calibri"/>
                <a:ea typeface="Calibri"/>
                <a:cs typeface="Calibri"/>
                <a:sym typeface="Calibri"/>
              </a:rPr>
              <a:t>범주형 인코딩을 fold 밖 정보 없이, 오직 해당 fold의 학습 데이터로만 학습하도록 구조를 재설계했습니다.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640080" y="2148840"/>
            <a:ext cx="5166360" cy="3657600"/>
          </a:xfrm>
          <a:prstGeom prst="roundRect">
            <a:avLst>
              <a:gd fmla="val 3000" name="adj"/>
            </a:avLst>
          </a:prstGeom>
          <a:solidFill>
            <a:srgbClr val="2B35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9"/>
          <p:cNvSpPr txBox="1"/>
          <p:nvPr/>
        </p:nvSpPr>
        <p:spPr>
          <a:xfrm>
            <a:off x="914400" y="2359152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4C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FB4C4"/>
                </a:solidFill>
                <a:latin typeface="Calibri"/>
                <a:ea typeface="Calibri"/>
                <a:cs typeface="Calibri"/>
                <a:sym typeface="Calibri"/>
              </a:rPr>
              <a:t>BEFORE — 통합 최종본 (v1)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 txBox="1"/>
          <p:nvPr/>
        </p:nvSpPr>
        <p:spPr>
          <a:xfrm>
            <a:off x="914400" y="2852928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8BB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A8BB5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 txBox="1"/>
          <p:nvPr/>
        </p:nvSpPr>
        <p:spPr>
          <a:xfrm>
            <a:off x="1207008" y="2834640"/>
            <a:ext cx="4297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6DEE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6DEEF"/>
                </a:solidFill>
                <a:latin typeface="Calibri"/>
                <a:ea typeface="Calibri"/>
                <a:cs typeface="Calibri"/>
                <a:sym typeface="Calibri"/>
              </a:rPr>
              <a:t>범주형 인코딩을 전체 데이터 기준으로 사전 처리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 txBox="1"/>
          <p:nvPr/>
        </p:nvSpPr>
        <p:spPr>
          <a:xfrm>
            <a:off x="914400" y="365760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8BB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A8BB5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 txBox="1"/>
          <p:nvPr/>
        </p:nvSpPr>
        <p:spPr>
          <a:xfrm>
            <a:off x="1207008" y="3639312"/>
            <a:ext cx="4297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6DEE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6DEEF"/>
                </a:solidFill>
                <a:latin typeface="Calibri"/>
                <a:ea typeface="Calibri"/>
                <a:cs typeface="Calibri"/>
                <a:sym typeface="Calibri"/>
              </a:rPr>
              <a:t>A/B/C/D 피처 세트 최고값을 최종 성능처럼 보고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 txBox="1"/>
          <p:nvPr/>
        </p:nvSpPr>
        <p:spPr>
          <a:xfrm>
            <a:off x="914400" y="4462272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8BB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A8BB5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 txBox="1"/>
          <p:nvPr/>
        </p:nvSpPr>
        <p:spPr>
          <a:xfrm>
            <a:off x="1207008" y="4443984"/>
            <a:ext cx="4297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6DEE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6DEEF"/>
                </a:solidFill>
                <a:latin typeface="Calibri"/>
                <a:ea typeface="Calibri"/>
                <a:cs typeface="Calibri"/>
                <a:sym typeface="Calibri"/>
              </a:rPr>
              <a:t>가중치 탐색 결과의 최고점을 최종 성능으로 해석할 위험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6080760" y="2148840"/>
            <a:ext cx="5166360" cy="3657600"/>
          </a:xfrm>
          <a:prstGeom prst="roundRect">
            <a:avLst>
              <a:gd fmla="val 3000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s/shield.png" id="194" name="Google Shape;19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5080" y="2331720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9"/>
          <p:cNvSpPr txBox="1"/>
          <p:nvPr/>
        </p:nvSpPr>
        <p:spPr>
          <a:xfrm>
            <a:off x="6793992" y="2359152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BFA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FBFA6"/>
                </a:solidFill>
                <a:latin typeface="Calibri"/>
                <a:ea typeface="Calibri"/>
                <a:cs typeface="Calibri"/>
                <a:sym typeface="Calibri"/>
              </a:rPr>
              <a:t>AFTER — 리키지 방지 v2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6355080" y="2907792"/>
            <a:ext cx="91440" cy="91440"/>
          </a:xfrm>
          <a:prstGeom prst="ellipse">
            <a:avLst/>
          </a:prstGeom>
          <a:solidFill>
            <a:srgbClr val="5FB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9"/>
          <p:cNvSpPr txBox="1"/>
          <p:nvPr/>
        </p:nvSpPr>
        <p:spPr>
          <a:xfrm>
            <a:off x="6583680" y="2752344"/>
            <a:ext cx="4343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LightGBM/XGBoost 범주 인코딩을 각 fold의 train에서만 fit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6355080" y="3657600"/>
            <a:ext cx="91440" cy="91440"/>
          </a:xfrm>
          <a:prstGeom prst="ellipse">
            <a:avLst/>
          </a:prstGeom>
          <a:solidFill>
            <a:srgbClr val="5FB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9"/>
          <p:cNvSpPr txBox="1"/>
          <p:nvPr/>
        </p:nvSpPr>
        <p:spPr>
          <a:xfrm>
            <a:off x="6583680" y="3502152"/>
            <a:ext cx="4343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validation·test의 unseen 범주는 -1로 명시적 처리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6355080" y="4407408"/>
            <a:ext cx="91440" cy="91440"/>
          </a:xfrm>
          <a:prstGeom prst="ellipse">
            <a:avLst/>
          </a:prstGeom>
          <a:solidFill>
            <a:srgbClr val="5FB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9"/>
          <p:cNvSpPr txBox="1"/>
          <p:nvPr/>
        </p:nvSpPr>
        <p:spPr>
          <a:xfrm>
            <a:off x="6583680" y="4251960"/>
            <a:ext cx="4343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Optuna 내부 CV에서도 fold별로 독립 인코딩 수행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6355080" y="5157216"/>
            <a:ext cx="91440" cy="91440"/>
          </a:xfrm>
          <a:prstGeom prst="ellipse">
            <a:avLst/>
          </a:prstGeom>
          <a:solidFill>
            <a:srgbClr val="5FB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9"/>
          <p:cNvSpPr txBox="1"/>
          <p:nvPr/>
        </p:nvSpPr>
        <p:spPr>
          <a:xfrm>
            <a:off x="6583680" y="5001768"/>
            <a:ext cx="4343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가중치를 과탐색해 최고점을 최종 성능처럼 보고하는 과정 제거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4C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FB4C4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"/>
          <p:cNvSpPr/>
          <p:nvPr/>
        </p:nvSpPr>
        <p:spPr>
          <a:xfrm>
            <a:off x="9418320" y="-1554480"/>
            <a:ext cx="4846320" cy="4846320"/>
          </a:xfrm>
          <a:prstGeom prst="ellipse">
            <a:avLst/>
          </a:prstGeom>
          <a:solidFill>
            <a:srgbClr val="065A82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-1463040" y="4297680"/>
            <a:ext cx="3657600" cy="3657600"/>
          </a:xfrm>
          <a:prstGeom prst="ellipse">
            <a:avLst/>
          </a:prstGeom>
          <a:solidFill>
            <a:srgbClr val="1C7293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0"/>
          <p:cNvSpPr txBox="1"/>
          <p:nvPr/>
        </p:nvSpPr>
        <p:spPr>
          <a:xfrm>
            <a:off x="822960" y="23317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BFA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FBFA6"/>
                </a:solidFill>
                <a:latin typeface="Calibri"/>
                <a:ea typeface="Calibri"/>
                <a:cs typeface="Calibri"/>
                <a:sym typeface="Calibri"/>
              </a:rPr>
              <a:t>SECTION 03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 txBox="1"/>
          <p:nvPr/>
        </p:nvSpPr>
        <p:spPr>
          <a:xfrm>
            <a:off x="777240" y="2606040"/>
            <a:ext cx="29260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68"/>
              </a:buClr>
              <a:buSzPts val="11000"/>
              <a:buFont typeface="Cambria"/>
              <a:buNone/>
            </a:pPr>
            <a:r>
              <a:rPr b="1" i="0" lang="en-US" sz="11000" u="none" cap="none" strike="noStrike">
                <a:solidFill>
                  <a:srgbClr val="2B3568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1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 txBox="1"/>
          <p:nvPr/>
        </p:nvSpPr>
        <p:spPr>
          <a:xfrm>
            <a:off x="822960" y="3246120"/>
            <a:ext cx="9601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모델링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 txBox="1"/>
          <p:nvPr/>
        </p:nvSpPr>
        <p:spPr>
          <a:xfrm>
            <a:off x="822960" y="406908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DCE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9DCE8"/>
                </a:solidFill>
                <a:latin typeface="Calibri"/>
                <a:ea typeface="Calibri"/>
                <a:cs typeface="Calibri"/>
                <a:sym typeface="Calibri"/>
              </a:rPr>
              <a:t>3-모델 학습, Optuna 하이퍼파라미터 튜닝, 최종 검증 설계를 다룹니다.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4C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FB4C4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"/>
          <p:cNvSpPr txBox="1"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03. 모델링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1"/>
          <p:cNvSpPr txBox="1"/>
          <p:nvPr/>
        </p:nvSpPr>
        <p:spPr>
          <a:xfrm>
            <a:off x="640080" y="80467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733"/>
                </a:solidFill>
                <a:latin typeface="Cambria"/>
                <a:ea typeface="Cambria"/>
                <a:cs typeface="Cambria"/>
                <a:sym typeface="Cambria"/>
              </a:rPr>
              <a:t>3-모델 학습과 Optuna 튜닝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1"/>
          <p:cNvSpPr txBox="1"/>
          <p:nvPr/>
        </p:nvSpPr>
        <p:spPr>
          <a:xfrm>
            <a:off x="640080" y="141732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9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6B7C89"/>
                </a:solidFill>
                <a:latin typeface="Calibri"/>
                <a:ea typeface="Calibri"/>
                <a:cs typeface="Calibri"/>
                <a:sym typeface="Calibri"/>
              </a:rPr>
              <a:t>트리 기반 부스팅 3종을 동일한 3-Fold OOF 기준으로 Optuna 탐색하여 최적 하이퍼파라미터를 도출했습니다.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640080" y="2103120"/>
            <a:ext cx="3429000" cy="2377440"/>
          </a:xfrm>
          <a:prstGeom prst="roundRect">
            <a:avLst>
              <a:gd fmla="val 4615" name="adj"/>
            </a:avLst>
          </a:prstGeom>
          <a:solidFill>
            <a:srgbClr val="F4F8FA"/>
          </a:solidFill>
          <a:ln cap="flat" cmpd="sng" w="12700">
            <a:solidFill>
              <a:srgbClr val="DC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1"/>
          <p:cNvSpPr txBox="1"/>
          <p:nvPr/>
        </p:nvSpPr>
        <p:spPr>
          <a:xfrm>
            <a:off x="896112" y="2286000"/>
            <a:ext cx="29169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LightGBM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1"/>
          <p:cNvSpPr txBox="1"/>
          <p:nvPr/>
        </p:nvSpPr>
        <p:spPr>
          <a:xfrm>
            <a:off x="896112" y="2670048"/>
            <a:ext cx="2916936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1B2733"/>
                </a:solidFill>
                <a:latin typeface="Cambria"/>
                <a:ea typeface="Cambria"/>
                <a:cs typeface="Cambria"/>
                <a:sym typeface="Cambria"/>
              </a:rPr>
              <a:t>0.7397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1"/>
          <p:cNvSpPr txBox="1"/>
          <p:nvPr/>
        </p:nvSpPr>
        <p:spPr>
          <a:xfrm>
            <a:off x="896112" y="3429000"/>
            <a:ext cx="29169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C89"/>
                </a:solidFill>
                <a:latin typeface="Calibri"/>
                <a:ea typeface="Calibri"/>
                <a:cs typeface="Calibri"/>
                <a:sym typeface="Calibri"/>
              </a:rPr>
              <a:t>Best CV AUC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9" name="Google Shape;229;p11"/>
          <p:cNvCxnSpPr/>
          <p:nvPr/>
        </p:nvCxnSpPr>
        <p:spPr>
          <a:xfrm>
            <a:off x="896112" y="3794760"/>
            <a:ext cx="2916936" cy="0"/>
          </a:xfrm>
          <a:prstGeom prst="straightConnector1">
            <a:avLst/>
          </a:prstGeom>
          <a:noFill/>
          <a:ln cap="flat" cmpd="sng" w="12700">
            <a:solidFill>
              <a:srgbClr val="DCE6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0" name="Google Shape;230;p11"/>
          <p:cNvSpPr txBox="1"/>
          <p:nvPr/>
        </p:nvSpPr>
        <p:spPr>
          <a:xfrm>
            <a:off x="896112" y="3913632"/>
            <a:ext cx="291693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C8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C89"/>
                </a:solidFill>
                <a:latin typeface="Calibri"/>
                <a:ea typeface="Calibri"/>
                <a:cs typeface="Calibri"/>
                <a:sym typeface="Calibri"/>
              </a:rPr>
              <a:t>48 leaves · depth 5 · lr 0.018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4343400" y="2103120"/>
            <a:ext cx="3429000" cy="2377440"/>
          </a:xfrm>
          <a:prstGeom prst="roundRect">
            <a:avLst>
              <a:gd fmla="val 4615" name="adj"/>
            </a:avLst>
          </a:prstGeom>
          <a:solidFill>
            <a:srgbClr val="F4F8FA"/>
          </a:solidFill>
          <a:ln cap="flat" cmpd="sng" w="12700">
            <a:solidFill>
              <a:srgbClr val="DC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1"/>
          <p:cNvSpPr txBox="1"/>
          <p:nvPr/>
        </p:nvSpPr>
        <p:spPr>
          <a:xfrm>
            <a:off x="4599432" y="2286000"/>
            <a:ext cx="29169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XGBoost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1"/>
          <p:cNvSpPr txBox="1"/>
          <p:nvPr/>
        </p:nvSpPr>
        <p:spPr>
          <a:xfrm>
            <a:off x="4599432" y="2670048"/>
            <a:ext cx="2916936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1B2733"/>
                </a:solidFill>
                <a:latin typeface="Cambria"/>
                <a:ea typeface="Cambria"/>
                <a:cs typeface="Cambria"/>
                <a:sym typeface="Cambria"/>
              </a:rPr>
              <a:t>0.7397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1"/>
          <p:cNvSpPr txBox="1"/>
          <p:nvPr/>
        </p:nvSpPr>
        <p:spPr>
          <a:xfrm>
            <a:off x="4599432" y="3429000"/>
            <a:ext cx="29169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C89"/>
                </a:solidFill>
                <a:latin typeface="Calibri"/>
                <a:ea typeface="Calibri"/>
                <a:cs typeface="Calibri"/>
                <a:sym typeface="Calibri"/>
              </a:rPr>
              <a:t>Best CV AUC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5" name="Google Shape;235;p11"/>
          <p:cNvCxnSpPr/>
          <p:nvPr/>
        </p:nvCxnSpPr>
        <p:spPr>
          <a:xfrm>
            <a:off x="4599432" y="3794760"/>
            <a:ext cx="2916936" cy="0"/>
          </a:xfrm>
          <a:prstGeom prst="straightConnector1">
            <a:avLst/>
          </a:prstGeom>
          <a:noFill/>
          <a:ln cap="flat" cmpd="sng" w="12700">
            <a:solidFill>
              <a:srgbClr val="DCE6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6" name="Google Shape;236;p11"/>
          <p:cNvSpPr txBox="1"/>
          <p:nvPr/>
        </p:nvSpPr>
        <p:spPr>
          <a:xfrm>
            <a:off x="4599432" y="3913632"/>
            <a:ext cx="291693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C8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C89"/>
                </a:solidFill>
                <a:latin typeface="Calibri"/>
                <a:ea typeface="Calibri"/>
                <a:cs typeface="Calibri"/>
                <a:sym typeface="Calibri"/>
              </a:rPr>
              <a:t>colsample 0.77 · subsample 0.79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8046720" y="2103120"/>
            <a:ext cx="3429000" cy="2377440"/>
          </a:xfrm>
          <a:prstGeom prst="roundRect">
            <a:avLst>
              <a:gd fmla="val 4615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1"/>
          <p:cNvSpPr txBox="1"/>
          <p:nvPr/>
        </p:nvSpPr>
        <p:spPr>
          <a:xfrm>
            <a:off x="8302752" y="2286000"/>
            <a:ext cx="29169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CatBoost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 txBox="1"/>
          <p:nvPr/>
        </p:nvSpPr>
        <p:spPr>
          <a:xfrm>
            <a:off x="8302752" y="2670048"/>
            <a:ext cx="2916936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BFA6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5FBFA6"/>
                </a:solidFill>
                <a:latin typeface="Cambria"/>
                <a:ea typeface="Cambria"/>
                <a:cs typeface="Cambria"/>
                <a:sym typeface="Cambria"/>
              </a:rPr>
              <a:t>0.7402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 txBox="1"/>
          <p:nvPr/>
        </p:nvSpPr>
        <p:spPr>
          <a:xfrm>
            <a:off x="8302752" y="3429000"/>
            <a:ext cx="29169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DCE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9DCE8"/>
                </a:solidFill>
                <a:latin typeface="Calibri"/>
                <a:ea typeface="Calibri"/>
                <a:cs typeface="Calibri"/>
                <a:sym typeface="Calibri"/>
              </a:rPr>
              <a:t>Best CV AUC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1" name="Google Shape;241;p11"/>
          <p:cNvCxnSpPr/>
          <p:nvPr/>
        </p:nvCxnSpPr>
        <p:spPr>
          <a:xfrm>
            <a:off x="8302752" y="3794760"/>
            <a:ext cx="2916936" cy="0"/>
          </a:xfrm>
          <a:prstGeom prst="straightConnector1">
            <a:avLst/>
          </a:prstGeom>
          <a:noFill/>
          <a:ln cap="flat" cmpd="sng" w="12700">
            <a:solidFill>
              <a:srgbClr val="3A6E9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2" name="Google Shape;242;p11"/>
          <p:cNvSpPr txBox="1"/>
          <p:nvPr/>
        </p:nvSpPr>
        <p:spPr>
          <a:xfrm>
            <a:off x="8302752" y="3913632"/>
            <a:ext cx="291693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9DCE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9DCE8"/>
                </a:solidFill>
                <a:latin typeface="Calibri"/>
                <a:ea typeface="Calibri"/>
                <a:cs typeface="Calibri"/>
                <a:sym typeface="Calibri"/>
              </a:rPr>
              <a:t>GPU 학습 · 최고 단일 모델 CV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1"/>
          <p:cNvSpPr/>
          <p:nvPr/>
        </p:nvSpPr>
        <p:spPr>
          <a:xfrm>
            <a:off x="640080" y="4754880"/>
            <a:ext cx="10881360" cy="1234440"/>
          </a:xfrm>
          <a:prstGeom prst="roundRect">
            <a:avLst>
              <a:gd fmla="val 7407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s/flask.png" id="244" name="Google Shape;24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501091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1"/>
          <p:cNvSpPr txBox="1"/>
          <p:nvPr/>
        </p:nvSpPr>
        <p:spPr>
          <a:xfrm>
            <a:off x="1417320" y="489204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BFA6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5FBFA6"/>
                </a:solidFill>
                <a:latin typeface="Calibri"/>
                <a:ea typeface="Calibri"/>
                <a:cs typeface="Calibri"/>
                <a:sym typeface="Calibri"/>
              </a:rPr>
              <a:t>Optuna 탐색 설계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 txBox="1"/>
          <p:nvPr/>
        </p:nvSpPr>
        <p:spPr>
          <a:xfrm>
            <a:off x="1417320" y="5230368"/>
            <a:ext cx="97840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6DEE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D6DEEF"/>
                </a:solidFill>
                <a:latin typeface="Calibri"/>
                <a:ea typeface="Calibri"/>
                <a:cs typeface="Calibri"/>
                <a:sym typeface="Calibri"/>
              </a:rPr>
              <a:t>각 trial을 동일한 3-Fold OOF AUC로 비교하고, 조기 종료로 불필요한 반복을 차단. 테스트 데이터와 최종 7-Fold 검증값은 튜닝 점수 계산에 사용하지 않아 하이퍼파라미터가 테스트셋에 과적합되는 것을 방지합니다.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C89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2"/>
          <p:cNvSpPr txBox="1"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03. 모델링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2"/>
          <p:cNvSpPr txBox="1"/>
          <p:nvPr/>
        </p:nvSpPr>
        <p:spPr>
          <a:xfrm>
            <a:off x="640080" y="80467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733"/>
                </a:solidFill>
                <a:latin typeface="Cambria"/>
                <a:ea typeface="Cambria"/>
                <a:cs typeface="Cambria"/>
                <a:sym typeface="Cambria"/>
              </a:rPr>
              <a:t>최종 검증 설계: 7-Fold × Multi-Seed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2"/>
          <p:cNvSpPr txBox="1"/>
          <p:nvPr/>
        </p:nvSpPr>
        <p:spPr>
          <a:xfrm>
            <a:off x="640080" y="141732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9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6B7C89"/>
                </a:solidFill>
                <a:latin typeface="Calibri"/>
                <a:ea typeface="Calibri"/>
                <a:cs typeface="Calibri"/>
                <a:sym typeface="Calibri"/>
              </a:rPr>
              <a:t>튜닝이 끝난 하이퍼파라미터로, 더 안정적인 최종 성능 추정과 제출 예측을 생성합니다.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2"/>
          <p:cNvSpPr/>
          <p:nvPr/>
        </p:nvSpPr>
        <p:spPr>
          <a:xfrm>
            <a:off x="640080" y="2103120"/>
            <a:ext cx="5212080" cy="3931920"/>
          </a:xfrm>
          <a:prstGeom prst="roundRect">
            <a:avLst>
              <a:gd fmla="val 2791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s/target.png" id="257" name="Google Shape;25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237744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2"/>
          <p:cNvSpPr txBox="1"/>
          <p:nvPr/>
        </p:nvSpPr>
        <p:spPr>
          <a:xfrm>
            <a:off x="1600200" y="2395728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7-Fold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2"/>
          <p:cNvSpPr txBox="1"/>
          <p:nvPr/>
        </p:nvSpPr>
        <p:spPr>
          <a:xfrm>
            <a:off x="1600200" y="2816352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DCE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CE8"/>
                </a:solidFill>
                <a:latin typeface="Calibri"/>
                <a:ea typeface="Calibri"/>
                <a:cs typeface="Calibri"/>
                <a:sym typeface="Calibri"/>
              </a:rPr>
              <a:t>Stratified K-Fold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2"/>
          <p:cNvSpPr txBox="1"/>
          <p:nvPr/>
        </p:nvSpPr>
        <p:spPr>
          <a:xfrm>
            <a:off x="914400" y="3246120"/>
            <a:ext cx="4663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6DEE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6DEEF"/>
                </a:solidFill>
                <a:latin typeface="Calibri"/>
                <a:ea typeface="Calibri"/>
                <a:cs typeface="Calibri"/>
                <a:sym typeface="Calibri"/>
              </a:rPr>
              <a:t>탐색 단계(5-Fold, 3-Fold)보다 더 많은 Fold로 나눠, 최종 성능 추정의 분산을 줄입니다.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1" name="Google Shape;261;p12"/>
          <p:cNvCxnSpPr/>
          <p:nvPr/>
        </p:nvCxnSpPr>
        <p:spPr>
          <a:xfrm>
            <a:off x="914400" y="4160520"/>
            <a:ext cx="4663440" cy="0"/>
          </a:xfrm>
          <a:prstGeom prst="straightConnector1">
            <a:avLst/>
          </a:prstGeom>
          <a:noFill/>
          <a:ln cap="flat" cmpd="sng" w="12700">
            <a:solidFill>
              <a:srgbClr val="3A6E9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2" name="Google Shape;262;p12"/>
          <p:cNvSpPr txBox="1"/>
          <p:nvPr/>
        </p:nvSpPr>
        <p:spPr>
          <a:xfrm>
            <a:off x="914400" y="4315968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BFA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FBFA6"/>
                </a:solidFill>
                <a:latin typeface="Calibri"/>
                <a:ea typeface="Calibri"/>
                <a:cs typeface="Calibri"/>
                <a:sym typeface="Calibri"/>
              </a:rPr>
              <a:t>Multi-Seed [42, 52, 62]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2"/>
          <p:cNvSpPr txBox="1"/>
          <p:nvPr/>
        </p:nvSpPr>
        <p:spPr>
          <a:xfrm>
            <a:off x="914400" y="4663440"/>
            <a:ext cx="46634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6DEE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6DEEF"/>
                </a:solidFill>
                <a:latin typeface="Calibri"/>
                <a:ea typeface="Calibri"/>
                <a:cs typeface="Calibri"/>
                <a:sym typeface="Calibri"/>
              </a:rPr>
              <a:t>처음엔 시드 42 하나로 빠르게 검증하고, 개선 효과가 확인된 뒤 3개 시드 평균으로 확장하는 단계적 워크플로우를 사용했습니다.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2"/>
          <p:cNvSpPr/>
          <p:nvPr/>
        </p:nvSpPr>
        <p:spPr>
          <a:xfrm>
            <a:off x="6080760" y="2103120"/>
            <a:ext cx="5440680" cy="3931920"/>
          </a:xfrm>
          <a:prstGeom prst="roundRect">
            <a:avLst>
              <a:gd fmla="val 2791" name="adj"/>
            </a:avLst>
          </a:prstGeom>
          <a:solidFill>
            <a:srgbClr val="F4F8FA"/>
          </a:solidFill>
          <a:ln cap="flat" cmpd="sng" w="12700">
            <a:solidFill>
              <a:srgbClr val="DC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2"/>
          <p:cNvSpPr txBox="1"/>
          <p:nvPr/>
        </p:nvSpPr>
        <p:spPr>
          <a:xfrm>
            <a:off x="6355080" y="2331720"/>
            <a:ext cx="4892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최종 검증에도 유지되는 원칙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2"/>
          <p:cNvSpPr/>
          <p:nvPr/>
        </p:nvSpPr>
        <p:spPr>
          <a:xfrm>
            <a:off x="6355080" y="2926080"/>
            <a:ext cx="82296" cy="82296"/>
          </a:xfrm>
          <a:prstGeom prst="ellipse">
            <a:avLst/>
          </a:prstGeom>
          <a:solidFill>
            <a:srgbClr val="5FB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2"/>
          <p:cNvSpPr txBox="1"/>
          <p:nvPr/>
        </p:nvSpPr>
        <p:spPr>
          <a:xfrm>
            <a:off x="6565392" y="2761488"/>
            <a:ext cx="47548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각 Fold의 범주형 인코딩을 해당 fold train에서만 fit (리키지 방지 원칙 동일 적용)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2"/>
          <p:cNvSpPr/>
          <p:nvPr/>
        </p:nvSpPr>
        <p:spPr>
          <a:xfrm>
            <a:off x="6355080" y="3977640"/>
            <a:ext cx="82296" cy="82296"/>
          </a:xfrm>
          <a:prstGeom prst="ellipse">
            <a:avLst/>
          </a:prstGeom>
          <a:solidFill>
            <a:srgbClr val="5FB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2"/>
          <p:cNvSpPr txBox="1"/>
          <p:nvPr/>
        </p:nvSpPr>
        <p:spPr>
          <a:xfrm>
            <a:off x="6565392" y="3813048"/>
            <a:ext cx="47548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Fold별 OOF 예측을 이어붙여 전체 train에 대한 out-of-fold 확률을 구성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2"/>
          <p:cNvSpPr/>
          <p:nvPr/>
        </p:nvSpPr>
        <p:spPr>
          <a:xfrm>
            <a:off x="6355080" y="5029200"/>
            <a:ext cx="82296" cy="82296"/>
          </a:xfrm>
          <a:prstGeom prst="ellipse">
            <a:avLst/>
          </a:prstGeom>
          <a:solidFill>
            <a:srgbClr val="5FB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2"/>
          <p:cNvSpPr txBox="1"/>
          <p:nvPr/>
        </p:nvSpPr>
        <p:spPr>
          <a:xfrm>
            <a:off x="6565392" y="4864608"/>
            <a:ext cx="47548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동일한 절차로 test 데이터에 대한 fold-평균 예측을 생성해 제출 파일로 사용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2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C89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3"/>
          <p:cNvSpPr/>
          <p:nvPr/>
        </p:nvSpPr>
        <p:spPr>
          <a:xfrm>
            <a:off x="9418320" y="-1554480"/>
            <a:ext cx="4846320" cy="4846320"/>
          </a:xfrm>
          <a:prstGeom prst="ellipse">
            <a:avLst/>
          </a:prstGeom>
          <a:solidFill>
            <a:srgbClr val="065A82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3"/>
          <p:cNvSpPr/>
          <p:nvPr/>
        </p:nvSpPr>
        <p:spPr>
          <a:xfrm>
            <a:off x="-1463040" y="4297680"/>
            <a:ext cx="3657600" cy="3657600"/>
          </a:xfrm>
          <a:prstGeom prst="ellipse">
            <a:avLst/>
          </a:prstGeom>
          <a:solidFill>
            <a:srgbClr val="1C7293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3"/>
          <p:cNvSpPr txBox="1"/>
          <p:nvPr/>
        </p:nvSpPr>
        <p:spPr>
          <a:xfrm>
            <a:off x="822960" y="23317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BFA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FBFA6"/>
                </a:solidFill>
                <a:latin typeface="Calibri"/>
                <a:ea typeface="Calibri"/>
                <a:cs typeface="Calibri"/>
                <a:sym typeface="Calibri"/>
              </a:rPr>
              <a:t>SECTION 04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3"/>
          <p:cNvSpPr txBox="1"/>
          <p:nvPr/>
        </p:nvSpPr>
        <p:spPr>
          <a:xfrm>
            <a:off x="777240" y="2606040"/>
            <a:ext cx="29260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68"/>
              </a:buClr>
              <a:buSzPts val="11000"/>
              <a:buFont typeface="Cambria"/>
              <a:buNone/>
            </a:pPr>
            <a:r>
              <a:rPr b="1" i="0" lang="en-US" sz="11000" u="none" cap="none" strike="noStrike">
                <a:solidFill>
                  <a:srgbClr val="2B3568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1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3"/>
          <p:cNvSpPr txBox="1"/>
          <p:nvPr/>
        </p:nvSpPr>
        <p:spPr>
          <a:xfrm>
            <a:off x="822960" y="3246120"/>
            <a:ext cx="9601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평가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3"/>
          <p:cNvSpPr txBox="1"/>
          <p:nvPr/>
        </p:nvSpPr>
        <p:spPr>
          <a:xfrm>
            <a:off x="822960" y="406908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DCE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9DCE8"/>
                </a:solidFill>
                <a:latin typeface="Calibri"/>
                <a:ea typeface="Calibri"/>
                <a:cs typeface="Calibri"/>
                <a:sym typeface="Calibri"/>
              </a:rPr>
              <a:t>앙상블 전략에 따른 최종 성능과 SHAP 기반 해석을 정리합니다.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3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4C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FB4C4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4"/>
          <p:cNvSpPr txBox="1"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04. 평가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4"/>
          <p:cNvSpPr txBox="1"/>
          <p:nvPr/>
        </p:nvSpPr>
        <p:spPr>
          <a:xfrm>
            <a:off x="640080" y="80467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733"/>
                </a:solidFill>
                <a:latin typeface="Cambria"/>
                <a:ea typeface="Cambria"/>
                <a:cs typeface="Cambria"/>
                <a:sym typeface="Cambria"/>
              </a:rPr>
              <a:t>앙상블 전략과 최종 성능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4"/>
          <p:cNvSpPr txBox="1"/>
          <p:nvPr/>
        </p:nvSpPr>
        <p:spPr>
          <a:xfrm>
            <a:off x="640080" y="141732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9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6B7C89"/>
                </a:solidFill>
                <a:latin typeface="Calibri"/>
                <a:ea typeface="Calibri"/>
                <a:cs typeface="Calibri"/>
                <a:sym typeface="Calibri"/>
              </a:rPr>
              <a:t>최종 7-Fold, Multi-Seed 예측을 통해 다양한 방식으로 결합한 LightGBM XGBoost CatBoost 앙상블을 선택했습니다.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3" name="Google Shape;293;p14"/>
          <p:cNvGraphicFramePr/>
          <p:nvPr/>
        </p:nvGraphicFramePr>
        <p:xfrm>
          <a:off x="640080" y="2057400"/>
          <a:ext cx="6675120" cy="402336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294" name="Google Shape;294;p14"/>
          <p:cNvSpPr/>
          <p:nvPr/>
        </p:nvSpPr>
        <p:spPr>
          <a:xfrm>
            <a:off x="7589520" y="2057400"/>
            <a:ext cx="3977640" cy="1874520"/>
          </a:xfrm>
          <a:prstGeom prst="roundRect">
            <a:avLst>
              <a:gd fmla="val 5854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4"/>
          <p:cNvSpPr txBox="1"/>
          <p:nvPr/>
        </p:nvSpPr>
        <p:spPr>
          <a:xfrm>
            <a:off x="7863840" y="224028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BFA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FBFA6"/>
                </a:solidFill>
                <a:latin typeface="Calibri"/>
                <a:ea typeface="Calibri"/>
                <a:cs typeface="Calibri"/>
                <a:sym typeface="Calibri"/>
              </a:rPr>
              <a:t>최종 채택 조합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4"/>
          <p:cNvSpPr txBox="1"/>
          <p:nvPr/>
        </p:nvSpPr>
        <p:spPr>
          <a:xfrm>
            <a:off x="7863840" y="2542032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mbria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0.7408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4"/>
          <p:cNvSpPr txBox="1"/>
          <p:nvPr/>
        </p:nvSpPr>
        <p:spPr>
          <a:xfrm>
            <a:off x="7863852" y="3310125"/>
            <a:ext cx="3977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9DCE8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C9DCE8"/>
                </a:solidFill>
                <a:latin typeface="Calibri"/>
                <a:ea typeface="Calibri"/>
                <a:cs typeface="Calibri"/>
                <a:sym typeface="Calibri"/>
              </a:rPr>
              <a:t>LightGBM 0.30 · XGBoost 0.10 · CatBoost 0.60 가중 평균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4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C89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5"/>
          <p:cNvSpPr txBox="1"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04. 평가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5"/>
          <p:cNvSpPr txBox="1"/>
          <p:nvPr/>
        </p:nvSpPr>
        <p:spPr>
          <a:xfrm>
            <a:off x="640080" y="80467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733"/>
                </a:solidFill>
                <a:latin typeface="Cambria"/>
                <a:ea typeface="Cambria"/>
                <a:cs typeface="Cambria"/>
                <a:sym typeface="Cambria"/>
              </a:rPr>
              <a:t>타겟 연관성 분석과 SHAP 해석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5"/>
          <p:cNvSpPr txBox="1"/>
          <p:nvPr/>
        </p:nvSpPr>
        <p:spPr>
          <a:xfrm>
            <a:off x="640080" y="141732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9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6B7C89"/>
                </a:solidFill>
                <a:latin typeface="Calibri"/>
                <a:ea typeface="Calibri"/>
                <a:cs typeface="Calibri"/>
                <a:sym typeface="Calibri"/>
              </a:rPr>
              <a:t>피처 선택은 반드시 OOF AUC로 결정하되, 연관성 분석과 SHAP은 결과를 설명하는 보조 자료로 활용합니다.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5"/>
          <p:cNvSpPr/>
          <p:nvPr/>
        </p:nvSpPr>
        <p:spPr>
          <a:xfrm>
            <a:off x="640080" y="2057400"/>
            <a:ext cx="5212080" cy="4160520"/>
          </a:xfrm>
          <a:prstGeom prst="roundRect">
            <a:avLst>
              <a:gd fmla="val 2637" name="adj"/>
            </a:avLst>
          </a:prstGeom>
          <a:solidFill>
            <a:srgbClr val="F4F8FA"/>
          </a:solidFill>
          <a:ln cap="flat" cmpd="sng" w="12700">
            <a:solidFill>
              <a:srgbClr val="DC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5"/>
          <p:cNvSpPr txBox="1"/>
          <p:nvPr/>
        </p:nvSpPr>
        <p:spPr>
          <a:xfrm>
            <a:off x="914400" y="2286000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타겟 연관성 분석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5"/>
          <p:cNvSpPr/>
          <p:nvPr/>
        </p:nvSpPr>
        <p:spPr>
          <a:xfrm>
            <a:off x="914400" y="2788920"/>
            <a:ext cx="54864" cy="777240"/>
          </a:xfrm>
          <a:prstGeom prst="rect">
            <a:avLst/>
          </a:prstGeom>
          <a:solidFill>
            <a:srgbClr val="5FB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5"/>
          <p:cNvSpPr txBox="1"/>
          <p:nvPr/>
        </p:nvSpPr>
        <p:spPr>
          <a:xfrm>
            <a:off x="1115568" y="2761488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숫자형 피처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5"/>
          <p:cNvSpPr txBox="1"/>
          <p:nvPr/>
        </p:nvSpPr>
        <p:spPr>
          <a:xfrm>
            <a:off x="1115568" y="3081528"/>
            <a:ext cx="4480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C8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C89"/>
                </a:solidFill>
                <a:latin typeface="Calibri"/>
                <a:ea typeface="Calibri"/>
                <a:cs typeface="Calibri"/>
                <a:sym typeface="Calibri"/>
              </a:rPr>
              <a:t>선형 관계만 보는 Pearson 대신, 순위 기반 Spearman 상관으로 타겟과의 연관성 상위 25개 확인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5"/>
          <p:cNvSpPr/>
          <p:nvPr/>
        </p:nvSpPr>
        <p:spPr>
          <a:xfrm>
            <a:off x="914400" y="3840480"/>
            <a:ext cx="54864" cy="777240"/>
          </a:xfrm>
          <a:prstGeom prst="rect">
            <a:avLst/>
          </a:prstGeom>
          <a:solidFill>
            <a:srgbClr val="5FB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5"/>
          <p:cNvSpPr txBox="1"/>
          <p:nvPr/>
        </p:nvSpPr>
        <p:spPr>
          <a:xfrm>
            <a:off x="1115568" y="3813048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범주형 피처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5"/>
          <p:cNvSpPr txBox="1"/>
          <p:nvPr/>
        </p:nvSpPr>
        <p:spPr>
          <a:xfrm>
            <a:off x="1115568" y="4133088"/>
            <a:ext cx="4480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C8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C89"/>
                </a:solidFill>
                <a:latin typeface="Calibri"/>
                <a:ea typeface="Calibri"/>
                <a:cs typeface="Calibri"/>
                <a:sym typeface="Calibri"/>
              </a:rPr>
              <a:t>표본 수 50개 이상 범주만 대상으로, 범주별 성공률 범위(최대-최소)가 큰 변수 우선 확인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5" name="Google Shape;315;p15"/>
          <p:cNvCxnSpPr/>
          <p:nvPr/>
        </p:nvCxnSpPr>
        <p:spPr>
          <a:xfrm>
            <a:off x="914400" y="4937760"/>
            <a:ext cx="4663440" cy="0"/>
          </a:xfrm>
          <a:prstGeom prst="straightConnector1">
            <a:avLst/>
          </a:prstGeom>
          <a:noFill/>
          <a:ln cap="flat" cmpd="sng" w="12700">
            <a:solidFill>
              <a:srgbClr val="DCE6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6" name="Google Shape;316;p15"/>
          <p:cNvSpPr/>
          <p:nvPr/>
        </p:nvSpPr>
        <p:spPr>
          <a:xfrm>
            <a:off x="6080760" y="2057400"/>
            <a:ext cx="5440680" cy="4160520"/>
          </a:xfrm>
          <a:prstGeom prst="roundRect">
            <a:avLst>
              <a:gd fmla="val 2637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s/brain.png" id="317" name="Google Shape;31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5080" y="228600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15"/>
          <p:cNvSpPr txBox="1"/>
          <p:nvPr/>
        </p:nvSpPr>
        <p:spPr>
          <a:xfrm>
            <a:off x="6876288" y="2313432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BFA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FBFA6"/>
                </a:solidFill>
                <a:latin typeface="Calibri"/>
                <a:ea typeface="Calibri"/>
                <a:cs typeface="Calibri"/>
                <a:sym typeface="Calibri"/>
              </a:rPr>
              <a:t>SHAP 해석 (최종 CatBoost 기준)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5"/>
          <p:cNvSpPr/>
          <p:nvPr/>
        </p:nvSpPr>
        <p:spPr>
          <a:xfrm>
            <a:off x="6355080" y="3017520"/>
            <a:ext cx="82296" cy="82296"/>
          </a:xfrm>
          <a:prstGeom prst="ellipse">
            <a:avLst/>
          </a:prstGeom>
          <a:solidFill>
            <a:srgbClr val="5FB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5"/>
          <p:cNvSpPr txBox="1"/>
          <p:nvPr/>
        </p:nvSpPr>
        <p:spPr>
          <a:xfrm>
            <a:off x="6565392" y="2862072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최종 튜닝 파라미터로 재학습한 CatBoost 모델에 TreeExplainer 적용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5"/>
          <p:cNvSpPr/>
          <p:nvPr/>
        </p:nvSpPr>
        <p:spPr>
          <a:xfrm>
            <a:off x="6355080" y="3794760"/>
            <a:ext cx="82296" cy="82296"/>
          </a:xfrm>
          <a:prstGeom prst="ellipse">
            <a:avLst/>
          </a:prstGeom>
          <a:solidFill>
            <a:srgbClr val="5FB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5"/>
          <p:cNvSpPr txBox="1"/>
          <p:nvPr/>
        </p:nvSpPr>
        <p:spPr>
          <a:xfrm>
            <a:off x="6565392" y="3639312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전체 데이터 중 3,000개 샘플을 무작위 추출해 SHAP 값 계산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5"/>
          <p:cNvSpPr/>
          <p:nvPr/>
        </p:nvSpPr>
        <p:spPr>
          <a:xfrm>
            <a:off x="6355080" y="4572000"/>
            <a:ext cx="82296" cy="82296"/>
          </a:xfrm>
          <a:prstGeom prst="ellipse">
            <a:avLst/>
          </a:prstGeom>
          <a:solidFill>
            <a:srgbClr val="5FB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5"/>
          <p:cNvSpPr txBox="1"/>
          <p:nvPr/>
        </p:nvSpPr>
        <p:spPr>
          <a:xfrm>
            <a:off x="6565392" y="4416552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Summary Plot으로 상위 25개 피처의 영향 방향·크기를 시각화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5" name="Google Shape;325;p15"/>
          <p:cNvCxnSpPr/>
          <p:nvPr/>
        </p:nvCxnSpPr>
        <p:spPr>
          <a:xfrm>
            <a:off x="6355080" y="5349240"/>
            <a:ext cx="4892040" cy="0"/>
          </a:xfrm>
          <a:prstGeom prst="straightConnector1">
            <a:avLst/>
          </a:prstGeom>
          <a:noFill/>
          <a:ln cap="flat" cmpd="sng" w="12700">
            <a:solidFill>
              <a:srgbClr val="3A4A7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6" name="Google Shape;326;p15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C89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6"/>
          <p:cNvSpPr/>
          <p:nvPr/>
        </p:nvSpPr>
        <p:spPr>
          <a:xfrm>
            <a:off x="9601200" y="-1371600"/>
            <a:ext cx="4114800" cy="4114800"/>
          </a:xfrm>
          <a:prstGeom prst="ellipse">
            <a:avLst/>
          </a:prstGeom>
          <a:solidFill>
            <a:srgbClr val="065A82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6"/>
          <p:cNvSpPr txBox="1"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BFA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FBFA6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6"/>
          <p:cNvSpPr txBox="1"/>
          <p:nvPr/>
        </p:nvSpPr>
        <p:spPr>
          <a:xfrm>
            <a:off x="640080" y="80467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결론 및 향후 계획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6"/>
          <p:cNvSpPr/>
          <p:nvPr/>
        </p:nvSpPr>
        <p:spPr>
          <a:xfrm>
            <a:off x="640080" y="1691640"/>
            <a:ext cx="5166360" cy="4251960"/>
          </a:xfrm>
          <a:prstGeom prst="roundRect">
            <a:avLst>
              <a:gd fmla="val 2581" name="adj"/>
            </a:avLst>
          </a:prstGeom>
          <a:solidFill>
            <a:srgbClr val="2B35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6"/>
          <p:cNvSpPr txBox="1"/>
          <p:nvPr/>
        </p:nvSpPr>
        <p:spPr>
          <a:xfrm>
            <a:off x="914400" y="1920240"/>
            <a:ext cx="4617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BFA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FBFA6"/>
                </a:solidFill>
                <a:latin typeface="Calibri"/>
                <a:ea typeface="Calibri"/>
                <a:cs typeface="Calibri"/>
                <a:sym typeface="Calibri"/>
              </a:rPr>
              <a:t>이번 프로젝트가 증명한 것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6"/>
          <p:cNvSpPr/>
          <p:nvPr/>
        </p:nvSpPr>
        <p:spPr>
          <a:xfrm>
            <a:off x="914400" y="2532888"/>
            <a:ext cx="91440" cy="91440"/>
          </a:xfrm>
          <a:prstGeom prst="ellipse">
            <a:avLst/>
          </a:prstGeom>
          <a:solidFill>
            <a:srgbClr val="5FB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6"/>
          <p:cNvSpPr txBox="1"/>
          <p:nvPr/>
        </p:nvSpPr>
        <p:spPr>
          <a:xfrm>
            <a:off x="1143000" y="2377440"/>
            <a:ext cx="4480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Fold-safe 인코딩만으로도 성능 추정의 신뢰도가 크게 향상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6"/>
          <p:cNvSpPr/>
          <p:nvPr/>
        </p:nvSpPr>
        <p:spPr>
          <a:xfrm>
            <a:off x="914400" y="3429000"/>
            <a:ext cx="91440" cy="91440"/>
          </a:xfrm>
          <a:prstGeom prst="ellipse">
            <a:avLst/>
          </a:prstGeom>
          <a:solidFill>
            <a:srgbClr val="5FB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6"/>
          <p:cNvSpPr txBox="1"/>
          <p:nvPr/>
        </p:nvSpPr>
        <p:spPr>
          <a:xfrm>
            <a:off x="1143000" y="3273552"/>
            <a:ext cx="4480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파생변수 확장(Funnel·이력·상호작용)은 과적합 없이 소폭의 실질적 개선을 제공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6"/>
          <p:cNvSpPr/>
          <p:nvPr/>
        </p:nvSpPr>
        <p:spPr>
          <a:xfrm>
            <a:off x="914400" y="4325112"/>
            <a:ext cx="91440" cy="91440"/>
          </a:xfrm>
          <a:prstGeom prst="ellipse">
            <a:avLst/>
          </a:prstGeom>
          <a:solidFill>
            <a:srgbClr val="5FB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6"/>
          <p:cNvSpPr txBox="1"/>
          <p:nvPr/>
        </p:nvSpPr>
        <p:spPr>
          <a:xfrm>
            <a:off x="1143000" y="4169664"/>
            <a:ext cx="4480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3-모델 앙상블은 단일 모델 대비 항상 근소하게 우수 (OOF AUC 0.7408)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6"/>
          <p:cNvSpPr/>
          <p:nvPr/>
        </p:nvSpPr>
        <p:spPr>
          <a:xfrm>
            <a:off x="914400" y="5221224"/>
            <a:ext cx="91440" cy="91440"/>
          </a:xfrm>
          <a:prstGeom prst="ellipse">
            <a:avLst/>
          </a:prstGeom>
          <a:solidFill>
            <a:srgbClr val="5FB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6"/>
          <p:cNvSpPr txBox="1"/>
          <p:nvPr/>
        </p:nvSpPr>
        <p:spPr>
          <a:xfrm>
            <a:off x="1143000" y="5065776"/>
            <a:ext cx="4480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SHAP 해석으로 '블랙박스 예측'이 아닌 설명 가능한 임상 보조 도구로 설계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6"/>
          <p:cNvSpPr/>
          <p:nvPr/>
        </p:nvSpPr>
        <p:spPr>
          <a:xfrm>
            <a:off x="6080760" y="1691640"/>
            <a:ext cx="5440680" cy="4251960"/>
          </a:xfrm>
          <a:prstGeom prst="roundRect">
            <a:avLst>
              <a:gd fmla="val 2581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6"/>
          <p:cNvSpPr txBox="1"/>
          <p:nvPr/>
        </p:nvSpPr>
        <p:spPr>
          <a:xfrm>
            <a:off x="6355080" y="1920240"/>
            <a:ext cx="4892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BFA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FBFA6"/>
                </a:solidFill>
                <a:latin typeface="Calibri"/>
                <a:ea typeface="Calibri"/>
                <a:cs typeface="Calibri"/>
                <a:sym typeface="Calibri"/>
              </a:rPr>
              <a:t>다음 단계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6"/>
          <p:cNvSpPr/>
          <p:nvPr/>
        </p:nvSpPr>
        <p:spPr>
          <a:xfrm>
            <a:off x="6355080" y="2532888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6"/>
          <p:cNvSpPr txBox="1"/>
          <p:nvPr/>
        </p:nvSpPr>
        <p:spPr>
          <a:xfrm>
            <a:off x="6583680" y="2377440"/>
            <a:ext cx="4800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전체 Stacking 파이프라인까지 Nested CV로 재검증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6"/>
          <p:cNvSpPr/>
          <p:nvPr/>
        </p:nvSpPr>
        <p:spPr>
          <a:xfrm>
            <a:off x="6355080" y="3429000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6"/>
          <p:cNvSpPr txBox="1"/>
          <p:nvPr/>
        </p:nvSpPr>
        <p:spPr>
          <a:xfrm>
            <a:off x="6583680" y="3273552"/>
            <a:ext cx="4800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시드/폴드 수 확대 (예: 7-Fold → 10-Fold, multi-seed 확장)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6"/>
          <p:cNvSpPr/>
          <p:nvPr/>
        </p:nvSpPr>
        <p:spPr>
          <a:xfrm>
            <a:off x="6355080" y="4325112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6"/>
          <p:cNvSpPr txBox="1"/>
          <p:nvPr/>
        </p:nvSpPr>
        <p:spPr>
          <a:xfrm>
            <a:off x="6583680" y="4169664"/>
            <a:ext cx="4800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임상 도메인 전문가 리뷰를 통한 파생변수 타당성 검증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6"/>
          <p:cNvSpPr/>
          <p:nvPr/>
        </p:nvSpPr>
        <p:spPr>
          <a:xfrm>
            <a:off x="6355080" y="5221224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6"/>
          <p:cNvSpPr txBox="1"/>
          <p:nvPr/>
        </p:nvSpPr>
        <p:spPr>
          <a:xfrm>
            <a:off x="6583680" y="5065776"/>
            <a:ext cx="4800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SHAP 상위 변수 기반 임상 해석 리포트 고도화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6"/>
          <p:cNvSpPr txBox="1"/>
          <p:nvPr/>
        </p:nvSpPr>
        <p:spPr>
          <a:xfrm>
            <a:off x="640080" y="617220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4C4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9FB4C4"/>
                </a:solidFill>
                <a:latin typeface="Cambria"/>
                <a:ea typeface="Cambria"/>
                <a:cs typeface="Cambria"/>
                <a:sym typeface="Cambria"/>
              </a:rPr>
              <a:t>감사합니다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6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4C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FB4C4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2026-09-03T12:10:50Z</dcterms:created>
  <dc:creator>PptxGenJS</dc:creator>
</cp:coreProperties>
</file>